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Students</c:v>
                </c:pt>
              </c:strCache>
            </c:strRef>
          </c:tx>
          <c:spPr>
            <a:solidFill>
              <a:srgbClr val="237E71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C2B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37E7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9E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835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More than 8 hours</c:v>
                  </c:pt>
                  <c:pt idx="1">
                    <c:v>6 – 8 hours</c:v>
                  </c:pt>
                  <c:pt idx="2">
                    <c:v>Less than 5 hours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</c:v>
                </c:pt>
                <c:pt idx="1">
                  <c:v>63</c:v>
                </c:pt>
                <c:pt idx="2">
                  <c:v>21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C2B2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C2B2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Restwise is a wearable for students that protects sleep. The three pills are the point of difference — it has no radios at all. Our NCSC theme is Food, Agriculture and Health, and we're taking on the Health side: student sleep.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two bars. The gap is about three hours a night. Multiply that across a school year and it stops being a small 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personal — this is the story of how the idea began, not a statistic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this was a real survey with real students — collected both on paper and through our own website, not guessed at. Over 100 responses gives us something solid to design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headline finding. Read the orange bar out loud — one in five students is under five hours a night, which is genuinely alarming for a growing child.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findings, one sentence each. The last line is the bridge into the insight slide — no recovery time means tiredness stacks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This is the turn in the presentation — from problem to solution. Say the second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product in one breath. Three pillars — protect sleep, force breaks, no radios. The third one is what makes it different from every other smartwatch.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judges will ask about. The answer: a device meant to reduce distraction cannot itself be a source of distraction. Removing the radio is a design decision, not a limitation.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left to right. Emphasise step 2 — the software will not let a parent save a schedule that starves the child of sleep. That check is the heart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ESP32 when we don't use its radio: it's cheap, widely available, low power, and easy for students to work with. Turning the radio off costs us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message is that the parent does almost nothing — the app does the thinking and the checking.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back to the NCSC theme explicitly here — the judges are listening for that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here — the prototype is real, the trial is the next milestone.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line, then open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5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CSC-HealthTracker\static\img\favicon-5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624" y="1170432"/>
            <a:ext cx="1298448" cy="12984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6974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spc="5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Restwise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0" y="3657600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D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watch that guards sleep — instead of stealing it.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2913736" y="4498848"/>
            <a:ext cx="1975104" cy="420624"/>
          </a:xfrm>
          <a:prstGeom prst="roundRect">
            <a:avLst>
              <a:gd name="adj" fmla="val 10869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FCFB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913736" y="449884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Wi-Fi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108296" y="4498848"/>
            <a:ext cx="1975104" cy="420624"/>
          </a:xfrm>
          <a:prstGeom prst="roundRect">
            <a:avLst>
              <a:gd name="adj" fmla="val 10869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FCFB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08296" y="449884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Bluetooth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02856" y="4498848"/>
            <a:ext cx="1975104" cy="420624"/>
          </a:xfrm>
          <a:prstGeom prst="roundRect">
            <a:avLst>
              <a:gd name="adj" fmla="val 108696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FCFB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02856" y="449884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Notifications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0" y="587044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40" kern="0" dirty="0">
                <a:solidFill>
                  <a:srgbClr val="8FC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Children's Science Congress   ·   Food, Agriculture and Health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 ends at 3.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day doesn't.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26700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tuition, homework and travel, a student's day quietly stretches past midnight.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358444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is the only block in that day with no fixed start time. So it becomes the one that gets cut — every single night.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55080" y="1170432"/>
            <a:ext cx="5120640" cy="4224528"/>
          </a:xfrm>
          <a:prstGeom prst="roundRect">
            <a:avLst>
              <a:gd name="adj" fmla="val 1082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12280" y="164592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TEENAGER NEEDS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12280" y="1993392"/>
            <a:ext cx="4206240" cy="566928"/>
          </a:xfrm>
          <a:prstGeom prst="roundRect">
            <a:avLst>
              <a:gd name="adj" fmla="val 48387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68312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8–9 hours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301752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MOST STUDENTS GET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12280" y="3364992"/>
            <a:ext cx="2721685" cy="566928"/>
          </a:xfrm>
          <a:prstGeom prst="roundRect">
            <a:avLst>
              <a:gd name="adj" fmla="val 48387"/>
            </a:avLst>
          </a:prstGeom>
          <a:solidFill>
            <a:srgbClr val="EF8354"/>
          </a:solidFill>
          <a:ln w="12700">
            <a:solidFill>
              <a:srgbClr val="EF835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68312" y="33649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 hours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42976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shortfall of roughly 3 hours — repeated every school night, for years.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IDEA CAME FROM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noticed it before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could prove it.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was everywhere around us — classmates falling asleep in class, skipping breakfast, carrying tuition bags into the evening.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37033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'everyone seems tired' is not evidence. Before designing anything, we wanted to know how big the problem actually was.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55080" y="1188720"/>
            <a:ext cx="5120640" cy="4114800"/>
          </a:xfrm>
          <a:prstGeom prst="roundRect">
            <a:avLst>
              <a:gd name="adj" fmla="val 1111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739128" y="1298448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0" b="1" dirty="0">
                <a:solidFill>
                  <a:srgbClr val="2F9E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0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670048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 the hardest-working</a:t>
            </a:r>
            <a:endParaRPr lang="en-US" sz="2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 in class always</a:t>
            </a:r>
            <a:endParaRPr lang="en-US" sz="22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exhausted one?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45902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that started this project.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METHOD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didn't assume.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asked.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13232" y="2743200"/>
            <a:ext cx="4663440" cy="2377440"/>
          </a:xfrm>
          <a:prstGeom prst="roundRect">
            <a:avLst>
              <a:gd name="adj" fmla="val 1923"/>
            </a:avLst>
          </a:prstGeom>
          <a:solidFill>
            <a:srgbClr val="0F4D44"/>
          </a:solidFill>
          <a:ln w="12700">
            <a:solidFill>
              <a:srgbClr val="0F4D44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24712" y="2999232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100+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42245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E9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students surveyed, across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E9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classes and age groups.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1024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asked them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355080" y="1600200"/>
            <a:ext cx="585216" cy="585216"/>
          </a:xfrm>
          <a:prstGeom prst="roundRect">
            <a:avLst>
              <a:gd name="adj" fmla="val 4375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9" name="Image 0" descr="C:\Users\Ashut\AppData\Local\Temp\claude\D--NCSC-HealthTracker\73a9a84b-9176-4595-9c0d-23c539b44801\scratchpad\assets\ic-clock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5532" y="1740652"/>
            <a:ext cx="304312" cy="30431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114032" y="161848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real daily schedule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114032" y="190195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School, tuition, homework and travel — hour by hour.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55080" y="2560320"/>
            <a:ext cx="585216" cy="585216"/>
          </a:xfrm>
          <a:prstGeom prst="roundRect">
            <a:avLst>
              <a:gd name="adj" fmla="val 4375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3" name="Image 1" descr="C:\Users\Ashut\AppData\Local\Temp\claude\D--NCSC-HealthTracker\73a9a84b-9176-4595-9c0d-23c539b44801\scratchpad\assets\ic-moon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532" y="2700772"/>
            <a:ext cx="304312" cy="3043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14032" y="257860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on school nights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114032" y="286207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time they sleep, what time they wake.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355080" y="3520440"/>
            <a:ext cx="585216" cy="585216"/>
          </a:xfrm>
          <a:prstGeom prst="roundRect">
            <a:avLst>
              <a:gd name="adj" fmla="val 4375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7" name="Image 2" descr="C:\Users\Ashut\AppData\Local\Temp\claude\D--NCSC-HealthTracker\73a9a84b-9176-4595-9c0d-23c539b44801\scratchpad\assets\ic-bell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5532" y="3660892"/>
            <a:ext cx="304312" cy="30431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114032" y="353872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and its triggers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114032" y="382219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often, and what sets it off.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355080" y="4480560"/>
            <a:ext cx="585216" cy="585216"/>
          </a:xfrm>
          <a:prstGeom prst="roundRect">
            <a:avLst>
              <a:gd name="adj" fmla="val 4375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21" name="Image 3" descr="C:\Users\Ashut\AppData\Local\Temp\claude\D--NCSC-HealthTracker\73a9a84b-9176-4595-9c0d-23c539b44801\scratchpad\assets\ic-drop-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532" y="4621012"/>
            <a:ext cx="304312" cy="304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4032" y="449884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and wind-down habits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114032" y="4782312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any rest is built into the day at all.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713232" y="541324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on paper and online — every answer came from a real student.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 ·  01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89611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students are running on empty.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1783080"/>
            <a:ext cx="6903720" cy="388620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969264" y="2029968"/>
          <a:ext cx="64008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3"/>
          <p:cNvSpPr/>
          <p:nvPr/>
        </p:nvSpPr>
        <p:spPr>
          <a:xfrm>
            <a:off x="7973568" y="1783080"/>
            <a:ext cx="3502152" cy="3886200"/>
          </a:xfrm>
          <a:prstGeom prst="roundRect">
            <a:avLst>
              <a:gd name="adj" fmla="val 1305"/>
            </a:avLst>
          </a:prstGeom>
          <a:solidFill>
            <a:srgbClr val="0F4D44"/>
          </a:solidFill>
          <a:ln w="12700">
            <a:solidFill>
              <a:srgbClr val="0F4D44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75320" y="21488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in 3</a:t>
            </a:r>
            <a:endParaRPr lang="en-US" sz="58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32004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E9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sleep less than the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E9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hours their age needs.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4251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D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ones who sleep least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D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ones with the most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D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 hours.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  ·  02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89611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isn't just the hours. It's the relentlessness.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1828800"/>
            <a:ext cx="3401568" cy="2944368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212848"/>
            <a:ext cx="658368" cy="658368"/>
          </a:xfrm>
          <a:prstGeom prst="roundRect">
            <a:avLst>
              <a:gd name="adj" fmla="val 38889"/>
            </a:avLst>
          </a:prstGeom>
          <a:solidFill>
            <a:srgbClr val="EF8354"/>
          </a:solidFill>
          <a:ln w="12700">
            <a:solidFill>
              <a:srgbClr val="EF8354"/>
            </a:solidFill>
            <a:prstDash val="solid"/>
          </a:ln>
        </p:spPr>
      </p:sp>
      <p:pic>
        <p:nvPicPr>
          <p:cNvPr id="6" name="Image 0" descr="C:\Users\Ashut\AppData\Local\Temp\claude\D--NCSC-HealthTracker\73a9a84b-9176-4595-9c0d-23c539b44801\scratchpad\assets\ic-bell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8" y="2370856"/>
            <a:ext cx="342351" cy="3423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7280" y="3108960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Almost every day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950208"/>
            <a:ext cx="2633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they feel stressed because of school, tuition or exams.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407408" y="1828800"/>
            <a:ext cx="3401568" cy="2944368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12848"/>
            <a:ext cx="658368" cy="658368"/>
          </a:xfrm>
          <a:prstGeom prst="roundRect">
            <a:avLst>
              <a:gd name="adj" fmla="val 38889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1" name="Image 1" descr="C:\Users\Ashut\AppData\Local\Temp\claude\D--NCSC-HealthTracker\73a9a84b-9176-4595-9c0d-23c539b44801\scratchpad\assets\ic-book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464" y="2370856"/>
            <a:ext cx="342351" cy="3423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91456" y="3108960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Tuition + homework</a:t>
            </a:r>
            <a:endParaRPr lang="en-US" sz="2300" dirty="0"/>
          </a:p>
        </p:txBody>
      </p:sp>
      <p:sp>
        <p:nvSpPr>
          <p:cNvPr id="13" name="Text 9"/>
          <p:cNvSpPr txBox="1"/>
          <p:nvPr/>
        </p:nvSpPr>
        <p:spPr>
          <a:xfrm>
            <a:off x="4791456" y="3950208"/>
            <a:ext cx="2633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the single most common trigger students named.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101584" y="1828800"/>
            <a:ext cx="3401568" cy="2944368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85632" y="2212848"/>
            <a:ext cx="658368" cy="658368"/>
          </a:xfrm>
          <a:prstGeom prst="roundRect">
            <a:avLst>
              <a:gd name="adj" fmla="val 38889"/>
            </a:avLst>
          </a:prstGeom>
          <a:solidFill>
            <a:srgbClr val="237E71"/>
          </a:solidFill>
          <a:ln w="12700">
            <a:solidFill>
              <a:srgbClr val="237E71"/>
            </a:solidFill>
            <a:prstDash val="solid"/>
          </a:ln>
        </p:spPr>
      </p:sp>
      <p:pic>
        <p:nvPicPr>
          <p:cNvPr id="16" name="Image 2" descr="C:\Users\Ashut\AppData\Local\Temp\claude\D--NCSC-HealthTracker\73a9a84b-9176-4595-9c0d-23c539b44801\scratchpad\assets\ic-drop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640" y="2370856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85632" y="3108960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real break</a:t>
            </a:r>
            <a:endParaRPr lang="en-US" sz="2300" dirty="0"/>
          </a:p>
        </p:txBody>
      </p:sp>
      <p:sp>
        <p:nvSpPr>
          <p:cNvPr id="18" name="Text 13"/>
          <p:cNvSpPr txBox="1"/>
          <p:nvPr/>
        </p:nvSpPr>
        <p:spPr>
          <a:xfrm>
            <a:off x="8485632" y="3950208"/>
            <a:ext cx="2633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school, tuition and homework — most days.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713232" y="5065776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who never gets a break never gets to recover — so the tiredness compounds instead of resetting.</a:t>
            </a:r>
            <a:endParaRPr lang="en-US" sz="1450" dirty="0"/>
          </a:p>
        </p:txBody>
      </p:sp>
      <p:sp>
        <p:nvSpPr>
          <p:cNvPr id="20" name="Text 15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" y="1417320"/>
            <a:ext cx="822960" cy="822960"/>
          </a:xfrm>
          <a:prstGeom prst="roundRect">
            <a:avLst>
              <a:gd name="adj" fmla="val 3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C:\Users\Ashut\AppData\Local\Temp\claude\D--NCSC-HealthTracker\73a9a84b-9176-4595-9c0d-23c539b44801\scratchpad\assets\ic-spark-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" y="161483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13232" y="24871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7FD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713232" y="2816352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9FDC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Students already know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9FDC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need sleep.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713232" y="404164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in their day protects it.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" y="5074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posters don't fix this. A schedule that actually holds the line does.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50" dirty="0"/>
          </a:p>
        </p:txBody>
      </p:sp>
      <p:pic>
        <p:nvPicPr>
          <p:cNvPr id="3" name="Image 0" descr="D:\NCSC-HealthTracker\static\img\favicon-5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960120"/>
            <a:ext cx="868680" cy="868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10512" y="1060704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Restwise.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13232" y="2121408"/>
            <a:ext cx="10762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low-cost smartwatch that carries one job: hold a student's day to a schedule that leaves room for sleep.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13232" y="2834640"/>
            <a:ext cx="3401568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3182112"/>
            <a:ext cx="640080" cy="640080"/>
          </a:xfrm>
          <a:prstGeom prst="roundRect">
            <a:avLst>
              <a:gd name="adj" fmla="val 4000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8" name="Image 1" descr="C:\Users\Ashut\AppData\Local\Temp\claude\D--NCSC-HealthTracker\73a9a84b-9176-4595-9c0d-23c539b44801\scratchpad\assets\ic-moon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899" y="3335731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4005072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sleep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438912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schedule is checked for a full 8-hour sleep block before it can be saved.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407408" y="2834640"/>
            <a:ext cx="3401568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791456" y="3182112"/>
            <a:ext cx="640080" cy="640080"/>
          </a:xfrm>
          <a:prstGeom prst="roundRect">
            <a:avLst>
              <a:gd name="adj" fmla="val 4000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3" name="Image 2" descr="C:\Users\Ashut\AppData\Local\Temp\claude\D--NCSC-HealthTracker\73a9a84b-9176-4595-9c0d-23c539b44801\scratchpad\assets\ic-drop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075" y="3335731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791456" y="4005072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real breaks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4791456" y="438912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gentle buzz for water and rest during long stretches of study.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101584" y="2834640"/>
            <a:ext cx="3401568" cy="260604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85632" y="3182112"/>
            <a:ext cx="640080" cy="640080"/>
          </a:xfrm>
          <a:prstGeom prst="roundRect">
            <a:avLst>
              <a:gd name="adj" fmla="val 4000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8" name="Image 3" descr="C:\Users\Ashut\AppData\Local\Temp\claude\D--NCSC-HealthTracker\73a9a84b-9176-4595-9c0d-23c539b44801\scratchpad\assets\ic-wifiOff-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251" y="3335731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485632" y="4005072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radios at all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8485632" y="438912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Wi-Fi, no Bluetooth, no notifications. Nothing to scroll, nothing to be distracted by.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other smartwatch</a:t>
            </a:r>
            <a:endParaRPr lang="en-US" sz="3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adds one more screen.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239572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 distracted, sleep-deprived student a device that buzzes with messages solves nothing. So we removed the radios entirely.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3456432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 talks to exactly one thing: a parent's computer, over a cable, when the parent chooses.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55080" y="1170432"/>
            <a:ext cx="5120640" cy="1993392"/>
          </a:xfrm>
          <a:prstGeom prst="roundRect">
            <a:avLst>
              <a:gd name="adj" fmla="val 2294"/>
            </a:avLst>
          </a:prstGeom>
          <a:solidFill>
            <a:srgbClr val="FBEEE7"/>
          </a:solidFill>
          <a:ln w="12700">
            <a:solidFill>
              <a:srgbClr val="FBEEE7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39128" y="1481328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EF8354"/>
          </a:solidFill>
          <a:ln w="12700">
            <a:solidFill>
              <a:srgbClr val="EF8354"/>
            </a:solidFill>
            <a:prstDash val="solid"/>
          </a:ln>
        </p:spPr>
      </p:sp>
      <p:pic>
        <p:nvPicPr>
          <p:cNvPr id="8" name="Image 0" descr="C:\Users\Ashut\AppData\Local\Temp\claude\D--NCSC-HealthTracker\73a9a84b-9176-4595-9c0d-23c539b44801\scratchpad\assets\ic-bell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5191" y="1617391"/>
            <a:ext cx="294803" cy="29480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452360" y="15179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C4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smartwatch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739128" y="226771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55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wireless signal · notifications · games and apps · another thing to check at midnight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3401568"/>
            <a:ext cx="5120640" cy="1993392"/>
          </a:xfrm>
          <a:prstGeom prst="roundRect">
            <a:avLst>
              <a:gd name="adj" fmla="val 2294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739128" y="3712464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3" name="Image 1" descr="C:\Users\Ashut\AppData\Local\Temp\claude\D--NCSC-HealthTracker\73a9a84b-9176-4595-9c0d-23c539b44801\scratchpad\assets\ic-shield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191" y="3848527"/>
            <a:ext cx="294803" cy="29480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37490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739128" y="4498848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radio emission · a schedule and a clock · nothing to open, nothing to scroll, nothing to notify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89611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steps. Once a week.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1810512"/>
            <a:ext cx="3401568" cy="2907792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1031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7F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3145536" y="2139696"/>
            <a:ext cx="585216" cy="585216"/>
          </a:xfrm>
          <a:prstGeom prst="roundRect">
            <a:avLst>
              <a:gd name="adj" fmla="val 4375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7" name="Image 0" descr="C:\Users\Ashut\AppData\Local\Temp\claude\D--NCSC-HealthTracker\73a9a84b-9176-4595-9c0d-23c539b44801\scratchpad\assets\ic-chart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5988" y="2280148"/>
            <a:ext cx="304312" cy="3043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2944368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plans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383280"/>
            <a:ext cx="2633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chat on our website builds the week around the child's real school and tuition timings.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07408" y="1810512"/>
            <a:ext cx="3401568" cy="2907792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791456" y="21031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7F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6839712" y="2139696"/>
            <a:ext cx="585216" cy="585216"/>
          </a:xfrm>
          <a:prstGeom prst="roundRect">
            <a:avLst>
              <a:gd name="adj" fmla="val 4375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3" name="Image 1" descr="C:\Users\Ashut\AppData\Local\Temp\claude\D--NCSC-HealthTracker\73a9a84b-9176-4595-9c0d-23c539b44801\scratchpad\assets\ic-check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164" y="2280148"/>
            <a:ext cx="304312" cy="3043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91456" y="2944368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checked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791456" y="3383280"/>
            <a:ext cx="2633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 refuses any schedule that leaves less than 8 hours of sleep, and adds water breaks automatically.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01584" y="1810512"/>
            <a:ext cx="3401568" cy="2907792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8485632" y="21031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7F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10533888" y="2139696"/>
            <a:ext cx="585216" cy="585216"/>
          </a:xfrm>
          <a:prstGeom prst="roundRect">
            <a:avLst>
              <a:gd name="adj" fmla="val 4375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9" name="Image 2" descr="C:\Users\Ashut\AppData\Local\Temp\claude\D--NCSC-HealthTracker\73a9a84b-9176-4595-9c0d-23c539b44801\scratchpad\assets\ic-plug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4340" y="2280148"/>
            <a:ext cx="304312" cy="30431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485632" y="2944368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 is updated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485632" y="3383280"/>
            <a:ext cx="2633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cable, one click. The schedule is compiled and sent to the watch — then the cable comes off.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713232" y="504748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that, the watch runs on its own — offline, all week.</a:t>
            </a:r>
            <a:endParaRPr lang="en-US" sz="1450" dirty="0"/>
          </a:p>
        </p:txBody>
      </p:sp>
      <p:sp>
        <p:nvSpPr>
          <p:cNvPr id="23" name="Text 18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BUILD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8961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 parts, carefully chosen.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1828800"/>
            <a:ext cx="5230368" cy="1572768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8992" y="2194560"/>
            <a:ext cx="603504" cy="603504"/>
          </a:xfrm>
          <a:prstGeom prst="roundRect">
            <a:avLst>
              <a:gd name="adj" fmla="val 42424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6" name="Image 0" descr="C:\Users\Ashut\AppData\Local\Temp\claude\D--NCSC-HealthTracker\73a9a84b-9176-4595-9c0d-23c539b44801\scratchpad\assets\ic-chip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33" y="2339401"/>
            <a:ext cx="313822" cy="31382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2139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microcontroller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487168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of the watch. Capable of Wi-Fi and Bluetooth — we deliberately switch both off and never use them.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5352" y="1828800"/>
            <a:ext cx="5230368" cy="1572768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11112" y="2194560"/>
            <a:ext cx="603504" cy="603504"/>
          </a:xfrm>
          <a:prstGeom prst="roundRect">
            <a:avLst>
              <a:gd name="adj" fmla="val 42424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1" name="Image 1" descr="C:\Users\Ashut\AppData\Local\Temp\claude\D--NCSC-HealthTracker\73a9a84b-9176-4595-9c0d-23c539b44801\scratchpad\assets\ic-plug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5953" y="2339401"/>
            <a:ext cx="313822" cy="31382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2139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USB cable</a:t>
            </a:r>
            <a:endParaRPr lang="en-US" sz="1650" dirty="0"/>
          </a:p>
        </p:txBody>
      </p:sp>
      <p:sp>
        <p:nvSpPr>
          <p:cNvPr id="13" name="Text 9"/>
          <p:cNvSpPr txBox="1"/>
          <p:nvPr/>
        </p:nvSpPr>
        <p:spPr>
          <a:xfrm>
            <a:off x="7360920" y="2487168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way data reaches the watch. No pairing, no network, no chance of remote access.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13232" y="3675888"/>
            <a:ext cx="5230368" cy="1572768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78992" y="4041648"/>
            <a:ext cx="603504" cy="603504"/>
          </a:xfrm>
          <a:prstGeom prst="roundRect">
            <a:avLst>
              <a:gd name="adj" fmla="val 42424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6" name="Image 2" descr="C:\Users\Ashut\AppData\Local\Temp\claude\D--NCSC-HealthTracker\73a9a84b-9176-4595-9c0d-23c539b44801\scratchpad\assets\ic-watch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833" y="4186489"/>
            <a:ext cx="313822" cy="31382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828800" y="39867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mini-language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828800" y="433425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compact binary format we designed, so a whole week's schedule fits in a few hundred bytes.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45352" y="3675888"/>
            <a:ext cx="5230368" cy="1572768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11112" y="4041648"/>
            <a:ext cx="603504" cy="603504"/>
          </a:xfrm>
          <a:prstGeom prst="roundRect">
            <a:avLst>
              <a:gd name="adj" fmla="val 42424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21" name="Image 3" descr="C:\Users\Ashut\AppData\Local\Temp\claude\D--NCSC-HealthTracker\73a9a84b-9176-4595-9c0d-23c539b44801\scratchpad\assets\ic-users-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5953" y="4186489"/>
            <a:ext cx="313822" cy="31382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60920" y="39867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website</a:t>
            </a:r>
            <a:endParaRPr lang="en-US" sz="1650" dirty="0"/>
          </a:p>
        </p:txBody>
      </p:sp>
      <p:sp>
        <p:nvSpPr>
          <p:cNvPr id="23" name="Text 17"/>
          <p:cNvSpPr txBox="1"/>
          <p:nvPr/>
        </p:nvSpPr>
        <p:spPr>
          <a:xfrm>
            <a:off x="7360920" y="4334256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parents plan, review and send the schedule. Built with Python and a secure cloud database.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713232" y="5413248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 is off-the-shelf and low-cost — this is meant to be buildable, not theoretical.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COMPANION APP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914400"/>
            <a:ext cx="5394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 parent</a:t>
            </a:r>
            <a:endParaRPr lang="en-US" sz="3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has five minutes.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2450592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settings to learn and no jargon. A parent answers a few plain questions about their child's week, and the schedule builds itself.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36576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plan risks the child's sleep, the app says so — before anything reaches the watch.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55080" y="1170432"/>
            <a:ext cx="5120640" cy="4224528"/>
          </a:xfrm>
          <a:prstGeom prst="roundRect">
            <a:avLst>
              <a:gd name="adj" fmla="val 1082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39128" y="1536192"/>
            <a:ext cx="530352" cy="530352"/>
          </a:xfrm>
          <a:prstGeom prst="roundRect">
            <a:avLst>
              <a:gd name="adj" fmla="val 48276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8" name="Image 0" descr="C:\Users\Ashut\AppData\Local\Temp\claude\D--NCSC-HealthTracker\73a9a84b-9176-4595-9c0d-23c539b44801\scratchpad\assets\ic-users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412" y="1663476"/>
            <a:ext cx="275783" cy="27578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452360" y="16093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plan, in plain language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739128" y="2286000"/>
            <a:ext cx="530352" cy="530352"/>
          </a:xfrm>
          <a:prstGeom prst="roundRect">
            <a:avLst>
              <a:gd name="adj" fmla="val 48276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1" name="Image 1" descr="C:\Users\Ashut\AppData\Local\Temp\claude\D--NCSC-HealthTracker\73a9a84b-9176-4595-9c0d-23c539b44801\scratchpad\assets\ic-shield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412" y="2413284"/>
            <a:ext cx="275783" cy="27578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52360" y="235915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automatic sleep-safety check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6739128" y="3035808"/>
            <a:ext cx="530352" cy="530352"/>
          </a:xfrm>
          <a:prstGeom prst="roundRect">
            <a:avLst>
              <a:gd name="adj" fmla="val 48276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4" name="Image 2" descr="C:\Users\Ashut\AppData\Local\Temp\claude\D--NCSC-HealthTracker\73a9a84b-9176-4595-9c0d-23c539b44801\scratchpad\assets\ic-drop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6412" y="3163092"/>
            <a:ext cx="275783" cy="27578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5236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breaks added for you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739128" y="3785616"/>
            <a:ext cx="530352" cy="530352"/>
          </a:xfrm>
          <a:prstGeom prst="roundRect">
            <a:avLst>
              <a:gd name="adj" fmla="val 48276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7" name="Image 3" descr="C:\Users\Ashut\AppData\Local\Temp\claude\D--NCSC-HealthTracker\73a9a84b-9176-4595-9c0d-23c539b44801\scratchpad\assets\ic-watch-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6412" y="3912900"/>
            <a:ext cx="275783" cy="27578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452360" y="38587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timetable you can edit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6739128" y="4535424"/>
            <a:ext cx="530352" cy="530352"/>
          </a:xfrm>
          <a:prstGeom prst="roundRect">
            <a:avLst>
              <a:gd name="adj" fmla="val 48276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20" name="Image 4" descr="C:\Users\Ashut\AppData\Local\Temp\claude\D--NCSC-HealthTracker\73a9a84b-9176-4595-9c0d-23c539b44801\scratchpad\assets\ic-plug-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6412" y="4662708"/>
            <a:ext cx="275783" cy="275783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452360" y="46085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update to the watch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23" name="Text 16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896112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Sleep is the cheapest health</a:t>
            </a:r>
            <a:endParaRPr lang="en-US" sz="3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intervention we have.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2395728"/>
            <a:ext cx="3401568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724912"/>
            <a:ext cx="640080" cy="640080"/>
          </a:xfrm>
          <a:prstGeom prst="roundRect">
            <a:avLst>
              <a:gd name="adj" fmla="val 4000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6" name="Image 0" descr="C:\Users\Ashut\AppData\Local\Temp\claude\D--NCSC-HealthTracker\73a9a84b-9176-4595-9c0d-23c539b44801\scratchpad\assets\ic-moon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899" y="2878531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7280" y="3547872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costs nothing</a:t>
            </a:r>
            <a:endParaRPr lang="en-US" sz="175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968496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8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supplements, tutors or clinics, protected sleep is free. It only needs to be scheduled and defended.</a:t>
            </a:r>
            <a:endParaRPr lang="en-US" sz="1280" dirty="0"/>
          </a:p>
        </p:txBody>
      </p:sp>
      <p:sp>
        <p:nvSpPr>
          <p:cNvPr id="9" name="Shape 6"/>
          <p:cNvSpPr/>
          <p:nvPr/>
        </p:nvSpPr>
        <p:spPr>
          <a:xfrm>
            <a:off x="4407408" y="2395728"/>
            <a:ext cx="3401568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724912"/>
            <a:ext cx="640080" cy="640080"/>
          </a:xfrm>
          <a:prstGeom prst="roundRect">
            <a:avLst>
              <a:gd name="adj" fmla="val 4000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1" name="Image 1" descr="C:\Users\Ashut\AppData\Local\Temp\claude\D--NCSC-HealthTracker\73a9a84b-9176-4595-9c0d-23c539b44801\scratchpad\assets\ic-shield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075" y="2878531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91456" y="3547872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protects everything else</a:t>
            </a:r>
            <a:endParaRPr lang="en-US" sz="1750" dirty="0"/>
          </a:p>
        </p:txBody>
      </p:sp>
      <p:sp>
        <p:nvSpPr>
          <p:cNvPr id="13" name="Text 9"/>
          <p:cNvSpPr txBox="1"/>
          <p:nvPr/>
        </p:nvSpPr>
        <p:spPr>
          <a:xfrm>
            <a:off x="4791456" y="3968496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8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mood, immunity, appetite and concentration all depend on it — the whole health theme in one habit.</a:t>
            </a:r>
            <a:endParaRPr lang="en-US" sz="1280" dirty="0"/>
          </a:p>
        </p:txBody>
      </p:sp>
      <p:sp>
        <p:nvSpPr>
          <p:cNvPr id="14" name="Shape 10"/>
          <p:cNvSpPr/>
          <p:nvPr/>
        </p:nvSpPr>
        <p:spPr>
          <a:xfrm>
            <a:off x="8101584" y="2395728"/>
            <a:ext cx="3401568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85632" y="2724912"/>
            <a:ext cx="640080" cy="640080"/>
          </a:xfrm>
          <a:prstGeom prst="roundRect">
            <a:avLst>
              <a:gd name="adj" fmla="val 40000"/>
            </a:avLst>
          </a:prstGeom>
          <a:solidFill>
            <a:srgbClr val="2F9E8E"/>
          </a:solidFill>
          <a:ln w="12700">
            <a:solidFill>
              <a:srgbClr val="2F9E8E"/>
            </a:solidFill>
            <a:prstDash val="solid"/>
          </a:ln>
        </p:spPr>
      </p:sp>
      <p:pic>
        <p:nvPicPr>
          <p:cNvPr id="16" name="Image 2" descr="C:\Users\Ashut\AppData\Local\Temp\claude\D--NCSC-HealthTracker\73a9a84b-9176-4595-9c0d-23c539b44801\scratchpad\assets\ic-rupee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9251" y="2878531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85632" y="3547872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b="1" dirty="0">
                <a:solidFill>
                  <a:srgbClr val="0F4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reach every home</a:t>
            </a:r>
            <a:endParaRPr lang="en-US" sz="1750" dirty="0"/>
          </a:p>
        </p:txBody>
      </p:sp>
      <p:sp>
        <p:nvSpPr>
          <p:cNvPr id="18" name="Text 13"/>
          <p:cNvSpPr txBox="1"/>
          <p:nvPr/>
        </p:nvSpPr>
        <p:spPr>
          <a:xfrm>
            <a:off x="8485632" y="3968496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8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low-cost parts, with no subscription and no internet needed on the child's side.</a:t>
            </a:r>
            <a:endParaRPr lang="en-US" sz="1280" dirty="0"/>
          </a:p>
        </p:txBody>
      </p:sp>
      <p:sp>
        <p:nvSpPr>
          <p:cNvPr id="19" name="Text 14"/>
          <p:cNvSpPr txBox="1"/>
          <p:nvPr/>
        </p:nvSpPr>
        <p:spPr>
          <a:xfrm>
            <a:off x="713232" y="5431536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Food, Agriculture and Health — this is the health of the child who has to sit through the school day.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5669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89611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prototype to wrist.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1874520"/>
            <a:ext cx="2587752" cy="2697480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24128" y="2176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578608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45643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watch, the protocol and the parent website are built and running end to end.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38144" y="1874520"/>
            <a:ext cx="2587752" cy="2697480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749040" y="2176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2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578608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with real families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345643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on wrists for a month and measure whether sleep actually improves.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63056" y="1874520"/>
            <a:ext cx="2587752" cy="2697480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176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2578608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gentler wake-up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45643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 the child at a light point in their sleep, not mid-dream.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87968" y="1874520"/>
            <a:ext cx="2587752" cy="2697480"/>
          </a:xfrm>
          <a:prstGeom prst="roundRect">
            <a:avLst>
              <a:gd name="adj" fmla="val 1767"/>
            </a:avLst>
          </a:prstGeom>
          <a:solidFill>
            <a:srgbClr val="FFFFFF"/>
          </a:solidFill>
          <a:ln w="12700">
            <a:solidFill>
              <a:srgbClr val="E4EFEA"/>
            </a:solidFill>
            <a:prstDash val="solid"/>
          </a:ln>
          <a:effectLst>
            <a:outerShdw sx="100000" sy="100000" kx="0" ky="0" algn="bl" rotWithShape="0" blurRad="228600" dist="50800" dir="5400000">
              <a:srgbClr val="0F4D44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98864" y="2176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198864" y="2578608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0F4D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edition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198864" y="345643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5A6D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dashboard for a class, so a school can see the pattern and act on it.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882896"/>
            <a:ext cx="10762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237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works today. The next step is proving it changes behaviour.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63825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0564063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DB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NCSC-HealthTracker\static\img\favicon-5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0068" y="1371600"/>
            <a:ext cx="1051560" cy="10515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23744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spc="3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Restwise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0" y="3218688"/>
            <a:ext cx="121916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the sleep,</a:t>
            </a:r>
            <a:endParaRPr lang="en-US" sz="42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 rest follows.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0" y="48920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D7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0" y="587044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140" kern="0" dirty="0">
                <a:solidFill>
                  <a:srgbClr val="8FC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Children's Science Congress   ·   Food, Agriculture and Health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National Children's Science Congress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Restwise — NCSC Project Presentation</dc:title>
  <dc:subject>PptxGenJS Presentation</dc:subject>
  <dc:creator>Restwise</dc:creator>
  <cp:lastModifiedBy>Restwise</cp:lastModifiedBy>
  <cp:revision>1</cp:revision>
  <dcterms:created xsi:type="dcterms:W3CDTF">2026-08-27T15:40:50Z</dcterms:created>
  <dcterms:modified xsi:type="dcterms:W3CDTF">2026-08-27T15:40:50Z</dcterms:modified>
</cp:coreProperties>
</file>